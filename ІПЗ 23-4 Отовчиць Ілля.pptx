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notesMasterIdLst>
    <p:notesMasterId r:id="rId10"/>
  </p:notesMasterIdLst>
  <p:handoutMasterIdLst>
    <p:handoutMasterId r:id="rId11"/>
  </p:handout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 rtl="0"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55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0" d="100"/>
          <a:sy n="120" d="100"/>
        </p:scale>
        <p:origin x="5040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ерхньо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Місце для дати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BA381FAE-15FF-408E-AA2B-C37751097313}" type="datetime1">
              <a:rPr lang="uk-UA" smtClean="0"/>
              <a:t>30.03.2026</a:t>
            </a:fld>
            <a:endParaRPr lang="en-US"/>
          </a:p>
        </p:txBody>
      </p:sp>
      <p:sp>
        <p:nvSpPr>
          <p:cNvPr id="4" name="Місце для нижнього колонтитула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Місце для номера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A975D426-A9DD-4244-A2CE-1FB6623742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484457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ерхньо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Місце для дати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8D1D9EEC-7951-4834-BECA-1084E74FBF5B}" type="datetime1">
              <a:rPr lang="uk-UA" smtClean="0"/>
              <a:t>30.03.2026</a:t>
            </a:fld>
            <a:endParaRPr lang="en-US"/>
          </a:p>
        </p:txBody>
      </p:sp>
      <p:sp>
        <p:nvSpPr>
          <p:cNvPr id="4" name="Місце для зображення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Місце для нотаток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uk"/>
              <a:t>Зразки заголовків</a:t>
            </a:r>
            <a:endParaRPr lang="en-US"/>
          </a:p>
          <a:p>
            <a:pPr lvl="1" rtl="0"/>
            <a:r>
              <a:rPr lang="uk"/>
              <a:t>Другий рівень</a:t>
            </a:r>
          </a:p>
          <a:p>
            <a:pPr lvl="2" rtl="0"/>
            <a:r>
              <a:rPr lang="uk"/>
              <a:t>Третій рівень</a:t>
            </a:r>
          </a:p>
          <a:p>
            <a:pPr lvl="3" rtl="0"/>
            <a:r>
              <a:rPr lang="uk"/>
              <a:t>Четвертий рівень</a:t>
            </a:r>
          </a:p>
          <a:p>
            <a:pPr lvl="4" rtl="0"/>
            <a:r>
              <a:rPr lang="uk"/>
              <a:t>П’ятий рівень</a:t>
            </a:r>
            <a:endParaRPr lang="en-US"/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1B41D33-19C8-4450-B3C5-BE83E9C8F0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455252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кутник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uk-UA"/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Підзаголовок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Місце для дати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46B91BF-9D4B-4E79-8BB2-DC14E694389B}" type="datetime1">
              <a:rPr lang="uk-UA" smtClean="0"/>
              <a:t>30.03.2026</a:t>
            </a:fld>
            <a:endParaRPr lang="en-US" dirty="0"/>
          </a:p>
        </p:txBody>
      </p:sp>
      <p:sp>
        <p:nvSpPr>
          <p:cNvPr id="9" name="Місце для нижнього колонтитула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Місце для номера слайда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і об’є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 rtlCol="0"/>
          <a:lstStyle/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Місце для вмісту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 rtlCol="0"/>
          <a:lstStyle/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Місце для дати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0E0EE9C-C944-4A4C-ABDA-7B72095BA763}" type="datetime1">
              <a:rPr lang="uk-UA" smtClean="0"/>
              <a:t>30.03.2026</a:t>
            </a:fld>
            <a:endParaRPr lang="en-US" dirty="0"/>
          </a:p>
        </p:txBody>
      </p:sp>
      <p:sp>
        <p:nvSpPr>
          <p:cNvPr id="9" name="Місце для нижнього колонтитула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Місце для номера слайда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кутник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rtlCol="0"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Місце для тексту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2E3075B-A75C-4242-8980-779EA079E6AA}" type="datetime1">
              <a:rPr lang="uk-UA" smtClean="0"/>
              <a:t>30.03.2026</a:t>
            </a:fld>
            <a:endParaRPr lang="en-US" dirty="0"/>
          </a:p>
        </p:txBody>
      </p:sp>
      <p:sp>
        <p:nvSpPr>
          <p:cNvPr id="9" name="Місце для нижнього колонтитула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Місце для номера слайда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елементи вміст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Місце для вмісту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 rtlCol="0">
            <a:normAutofit/>
          </a:bodyPr>
          <a:lstStyle/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Місце для вмісту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 rtlCol="0">
            <a:normAutofit/>
          </a:bodyPr>
          <a:lstStyle/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Місце для дати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B5EF409-8007-4C83-98AF-6F9C69989EBB}" type="datetime1">
              <a:rPr lang="uk-UA" smtClean="0"/>
              <a:t>30.03.2026</a:t>
            </a:fld>
            <a:endParaRPr lang="en-US" dirty="0"/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Місце для тексту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rtlCol="0"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4" name="Місце для вмісту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Місце для тексту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rtlCol="0"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Місце для вмісту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Місце для дати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A914258-79D2-4A3F-9A8F-E300532220F7}" type="datetime1">
              <a:rPr lang="uk-UA" smtClean="0"/>
              <a:t>30.03.2026</a:t>
            </a:fld>
            <a:endParaRPr lang="en-US" dirty="0"/>
          </a:p>
        </p:txBody>
      </p:sp>
      <p:sp>
        <p:nvSpPr>
          <p:cNvPr id="8" name="Місце для нижнього колонтитула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Місце для номера слайда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 rtlCol="0"/>
          <a:lstStyle/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Місце для дати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8187B68-5F14-4571-BC1A-05903A29F025}" type="datetime1">
              <a:rPr lang="uk-UA" smtClean="0"/>
              <a:t>30.03.2026</a:t>
            </a:fld>
            <a:endParaRPr lang="en-US" dirty="0"/>
          </a:p>
        </p:txBody>
      </p:sp>
      <p:sp>
        <p:nvSpPr>
          <p:cNvPr id="4" name="Місце для нижнього колонтитула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5" name="Місце для номера слайда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301B783-AD33-43C1-B548-6F784AA71EA8}" type="datetime1">
              <a:rPr lang="uk-UA" smtClean="0"/>
              <a:t>30.03.2026</a:t>
            </a:fld>
            <a:endParaRPr lang="en-US" dirty="0"/>
          </a:p>
        </p:txBody>
      </p:sp>
      <p:sp>
        <p:nvSpPr>
          <p:cNvPr id="3" name="Місце для нижнього колонтитула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кутник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Місце для вмісту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rtlCol="0"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Місце для тексту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8" name="Місце для дати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 rtlCol="0"/>
          <a:lstStyle/>
          <a:p>
            <a:pPr rtl="0"/>
            <a:fld id="{65F3FAAF-288A-41C0-A655-DD0E0998E5BD}" type="datetime1">
              <a:rPr lang="uk-UA" smtClean="0"/>
              <a:t>30.03.2026</a:t>
            </a:fld>
            <a:endParaRPr lang="en-US" dirty="0"/>
          </a:p>
        </p:txBody>
      </p:sp>
      <p:sp>
        <p:nvSpPr>
          <p:cNvPr id="10" name="Місце для нижнього колонтитула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1" name="Місце для номера слайда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 rtlCol="0"/>
          <a:lstStyle/>
          <a:p>
            <a:pPr rtl="0"/>
            <a:fld id="{3A98EE3D-8CD1-4C3F-BD1C-C98C9596463C}" type="slidenum">
              <a:rPr lang="en-US" smtClean="0"/>
              <a:pPr rtl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Зображення 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Місце для зображення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Місце для тексту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rtlCol="0"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5" name="Місце для дати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5D1E072-3C55-4DA2-A063-707E455D12D1}" type="datetime1">
              <a:rPr lang="uk-UA" smtClean="0"/>
              <a:t>30.03.2026</a:t>
            </a:fld>
            <a:endParaRPr lang="en-US" dirty="0"/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algn="l" rtl="0"/>
            <a:endParaRPr lang="en-US" dirty="0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Місце для вертикального тексту 2"/>
          <p:cNvSpPr>
            <a:spLocks noGrp="1"/>
          </p:cNvSpPr>
          <p:nvPr>
            <p:ph type="body" orient="vert" idx="1"/>
          </p:nvPr>
        </p:nvSpPr>
        <p:spPr/>
        <p:txBody>
          <a:bodyPr vert="eaVert" rtlCol="0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109ECB2-51F8-488F-9EB0-765C7CD06D49}" type="datetime1">
              <a:rPr lang="uk-UA" smtClean="0"/>
              <a:t>30.03.2026</a:t>
            </a:fld>
            <a:endParaRPr lang="en-US" dirty="0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кутник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Вертикальний заголовок 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rtlCol="0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Місце для вертикального тексту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rtlCol="0" anchor="t"/>
          <a:lstStyle/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Прямокутник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Прямокутник 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Прямокутник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Місце для дати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7FA2293-FBC8-4D8D-8BE9-6D136E593A44}" type="datetime1">
              <a:rPr lang="uk-UA" smtClean="0"/>
              <a:t>30.03.2026</a:t>
            </a:fld>
            <a:endParaRPr lang="en-US" dirty="0"/>
          </a:p>
        </p:txBody>
      </p:sp>
      <p:sp>
        <p:nvSpPr>
          <p:cNvPr id="12" name="Місце для нижнього колонтитула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3" name="Місце для номера слайда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uk" dirty="0"/>
              <a:t>Зразок заголовка</a:t>
            </a:r>
            <a:endParaRPr lang="en-US" dirty="0"/>
          </a:p>
        </p:txBody>
      </p:sp>
      <p:sp>
        <p:nvSpPr>
          <p:cNvPr id="3" name="Місце для тексту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uk"/>
              <a:t>Зразки заголовків</a:t>
            </a:r>
          </a:p>
          <a:p>
            <a:pPr lvl="1" rtl="0"/>
            <a:r>
              <a:rPr lang="uk"/>
              <a:t>Другий рівень</a:t>
            </a:r>
          </a:p>
          <a:p>
            <a:pPr lvl="2" rtl="0"/>
            <a:r>
              <a:rPr lang="uk"/>
              <a:t>Третій рівень</a:t>
            </a:r>
          </a:p>
          <a:p>
            <a:pPr lvl="3" rtl="0"/>
            <a:r>
              <a:rPr lang="uk"/>
              <a:t>Четвертий рівень</a:t>
            </a:r>
          </a:p>
          <a:p>
            <a:pPr lvl="4" rtl="0"/>
            <a:r>
              <a:rPr lang="uk"/>
              <a:t>П’ятий рівень</a:t>
            </a:r>
            <a:endParaRPr lang="en-US" dirty="0"/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964B058B-0179-4FC4-8AD5-D795E394D156}" type="datetime1">
              <a:rPr lang="uk-UA" smtClean="0"/>
              <a:t>30.03.2026</a:t>
            </a:fld>
            <a:endParaRPr lang="en-US" dirty="0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Прямокутник 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uk-UA"/>
          </a:p>
        </p:txBody>
      </p:sp>
      <p:sp>
        <p:nvSpPr>
          <p:cNvPr id="10" name="Прямокутник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uk-UA"/>
          </a:p>
        </p:txBody>
      </p:sp>
      <p:sp>
        <p:nvSpPr>
          <p:cNvPr id="11" name="Прямокутник 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Прямокутник 17">
            <a:extLst>
              <a:ext uri="{FF2B5EF4-FFF2-40B4-BE49-F238E27FC236}">
                <a16:creationId xmlns:a16="http://schemas.microsoft.com/office/drawing/2014/main" id="{D6D7A0BC-0046-4CAA-8E7F-DCAFE511EA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21E816-31F5-48BB-BD02-D15F2F18B4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</p:spPr>
        <p:txBody>
          <a:bodyPr rtlCol="0">
            <a:normAutofit/>
          </a:bodyPr>
          <a:lstStyle/>
          <a:p>
            <a:r>
              <a:rPr lang="en-US" sz="28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Курсова</a:t>
            </a:r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 </a:t>
            </a:r>
            <a:r>
              <a:rPr lang="en-US" sz="28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робота</a:t>
            </a:r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 </a:t>
            </a:r>
            <a:r>
              <a:rPr lang="en-US" sz="28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на</a:t>
            </a:r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 </a:t>
            </a:r>
            <a:r>
              <a:rPr lang="en-US" sz="28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тему</a:t>
            </a:r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: «</a:t>
            </a:r>
            <a:r>
              <a:rPr lang="uk-UA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Онлайн-платформа для ведення щоденника</a:t>
            </a:r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»</a:t>
            </a:r>
            <a:b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</a:br>
            <a:endParaRPr lang="uk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Прямокутник 19">
            <a:extLst>
              <a:ext uri="{FF2B5EF4-FFF2-40B4-BE49-F238E27FC236}">
                <a16:creationId xmlns:a16="http://schemas.microsoft.com/office/drawing/2014/main" id="{E7C6334F-6411-41EC-AD7D-179EDD8B5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uk-UA"/>
          </a:p>
        </p:txBody>
      </p:sp>
      <p:sp>
        <p:nvSpPr>
          <p:cNvPr id="22" name="Прямокутник 21">
            <a:extLst>
              <a:ext uri="{FF2B5EF4-FFF2-40B4-BE49-F238E27FC236}">
                <a16:creationId xmlns:a16="http://schemas.microsoft.com/office/drawing/2014/main" id="{E6B02CEE-3AF8-4349-9B3E-8970E6DF62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uk-UA"/>
          </a:p>
        </p:txBody>
      </p:sp>
      <p:sp>
        <p:nvSpPr>
          <p:cNvPr id="24" name="Прямокутник 23">
            <a:extLst>
              <a:ext uri="{FF2B5EF4-FFF2-40B4-BE49-F238E27FC236}">
                <a16:creationId xmlns:a16="http://schemas.microsoft.com/office/drawing/2014/main" id="{AAA01CF0-3FB5-44EB-B7DE-F2E86374C2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uk-UA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491B72-9A0C-AA88-7504-1D182B3023D2}"/>
              </a:ext>
            </a:extLst>
          </p:cNvPr>
          <p:cNvSpPr txBox="1"/>
          <p:nvPr/>
        </p:nvSpPr>
        <p:spPr>
          <a:xfrm>
            <a:off x="581191" y="3515875"/>
            <a:ext cx="6097424" cy="1521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18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Виконав</a:t>
            </a:r>
            <a:r>
              <a:rPr lang="en-US" sz="1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18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студент</a:t>
            </a:r>
            <a:r>
              <a:rPr lang="en-US" sz="1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групи</a:t>
            </a:r>
            <a:r>
              <a:rPr lang="en-US" sz="1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ІПЗ 23-4, Отовчиць </a:t>
            </a:r>
            <a:r>
              <a:rPr lang="en-US" sz="18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Ілля</a:t>
            </a:r>
            <a:endParaRPr lang="en-US" sz="18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3920"/>
              </a:lnSpc>
            </a:pPr>
            <a:r>
              <a:rPr lang="en-US" sz="18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Керівник</a:t>
            </a:r>
            <a:r>
              <a:rPr lang="en-US" sz="1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uk-UA" sz="1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Дмитренко І. А.</a:t>
            </a:r>
            <a:endParaRPr lang="en-US" sz="18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3920"/>
              </a:lnSpc>
            </a:pPr>
            <a:r>
              <a:rPr lang="en-US" sz="1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ДУ «</a:t>
            </a:r>
            <a:r>
              <a:rPr lang="en-US" sz="18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Житомирська</a:t>
            </a:r>
            <a:r>
              <a:rPr lang="en-US" sz="1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політехніка</a:t>
            </a:r>
            <a:r>
              <a:rPr lang="en-US" sz="1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», 2026 </a:t>
            </a:r>
            <a:r>
              <a:rPr lang="en-US" sz="18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рік</a:t>
            </a:r>
            <a:endParaRPr lang="en-US" sz="18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75805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3">
            <a:extLst>
              <a:ext uri="{FF2B5EF4-FFF2-40B4-BE49-F238E27FC236}">
                <a16:creationId xmlns:a16="http://schemas.microsoft.com/office/drawing/2014/main" id="{FCD8D973-7D86-51C5-B199-1BA4B9CD68DB}"/>
              </a:ext>
            </a:extLst>
          </p:cNvPr>
          <p:cNvSpPr txBox="1"/>
          <p:nvPr/>
        </p:nvSpPr>
        <p:spPr>
          <a:xfrm>
            <a:off x="1059210" y="325315"/>
            <a:ext cx="10073580" cy="1348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36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Актуальність</a:t>
            </a:r>
            <a:r>
              <a:rPr lang="en-US" sz="36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36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теми</a:t>
            </a:r>
            <a:endParaRPr lang="en-US" sz="3600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09E280-0219-3F27-5F66-BD5F0897936D}"/>
              </a:ext>
            </a:extLst>
          </p:cNvPr>
          <p:cNvSpPr txBox="1"/>
          <p:nvPr/>
        </p:nvSpPr>
        <p:spPr>
          <a:xfrm>
            <a:off x="1660498" y="2495631"/>
            <a:ext cx="887100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uk-UA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Проблема:</a:t>
            </a:r>
            <a:r>
              <a:rPr lang="uk-U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Ризики конфіденційності при використанні публічних хмарних сервісів та відсутність простих, структурованих інструментів для ведення приватних цифрових записів у закритому середовищі.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uk-UA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Рішення:</a:t>
            </a:r>
            <a:r>
              <a:rPr lang="uk-U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Розробка автономного вебзастосунку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Diary </a:t>
            </a:r>
            <a:r>
              <a:rPr lang="uk-U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базі архітектури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MVC, </a:t>
            </a:r>
            <a:r>
              <a:rPr lang="uk-U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що забезпечує повний контроль над даними та логікою обробки інформації.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uk-UA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Переваги:</a:t>
            </a:r>
            <a:r>
              <a:rPr lang="uk-U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Високий рівень безпеки захист від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SQL-</a:t>
            </a:r>
            <a:r>
              <a:rPr lang="uk-U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ін’єкцій через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PDO, </a:t>
            </a:r>
            <a:r>
              <a:rPr lang="uk-U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масштабованість архітектури та можливість гнучкого адміністрування користувачів.</a:t>
            </a:r>
          </a:p>
        </p:txBody>
      </p:sp>
    </p:spTree>
    <p:extLst>
      <p:ext uri="{BB962C8B-B14F-4D97-AF65-F5344CB8AC3E}">
        <p14:creationId xmlns:p14="http://schemas.microsoft.com/office/powerpoint/2010/main" val="2637846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D1876-0C2B-FC2B-BCC5-E109202E3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Основний</a:t>
            </a:r>
            <a:r>
              <a:rPr lang="en-US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функціонал</a:t>
            </a:r>
            <a:br>
              <a:rPr lang="en-US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</a:br>
            <a:endParaRPr lang="uk-U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02DAE1-64BF-35FE-FE34-CAAA28FFD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2832607E-8737-C1D8-6CBE-0DC7E9E61E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46" y="2217646"/>
            <a:ext cx="11398364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uk-UA" altLang="uk-UA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Повний цикл CRUD для нотаток: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можливість створення, перегляду, редагування та безповоротного видалення персональних записів.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uk-UA" altLang="uk-UA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Багаторівнева система доступу: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розмежування прав між звичайними користувачами та адміністратором системи для управління обліковими записами.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uk-UA" altLang="uk-UA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Персоналізація даних: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кожен користувач має доступ лише до власних нотаток завдяки фільтрації запитів за унікальним ідентифікатором у базі даних.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uk-UA" altLang="uk-UA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Захищена авторизація: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реалізація реєстрації та входу в систему з використанням сесій для збереження стану користувача.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uk-UA" altLang="uk-UA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Автоматична хронологія: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фіксація точного часу створення кожного запису для зручного відстеження історії нотаток.</a:t>
            </a:r>
          </a:p>
        </p:txBody>
      </p:sp>
    </p:spTree>
    <p:extLst>
      <p:ext uri="{BB962C8B-B14F-4D97-AF65-F5344CB8AC3E}">
        <p14:creationId xmlns:p14="http://schemas.microsoft.com/office/powerpoint/2010/main" val="27623794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8">
            <a:extLst>
              <a:ext uri="{FF2B5EF4-FFF2-40B4-BE49-F238E27FC236}">
                <a16:creationId xmlns:a16="http://schemas.microsoft.com/office/drawing/2014/main" id="{AAB6381C-0C85-9160-9A8E-F1515AEBEFF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025" y="701675"/>
            <a:ext cx="11029950" cy="8583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36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Інструменти</a:t>
            </a:r>
            <a:r>
              <a:rPr lang="en-US" sz="36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36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розробки</a:t>
            </a:r>
            <a:endParaRPr lang="en-US" sz="3600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9442E6B-07A7-9A42-5AFC-6C1ED6D175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450" y="1962998"/>
            <a:ext cx="2844799" cy="92456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17046CF-92F3-0989-1024-1BF8772302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1854" y="2887558"/>
            <a:ext cx="2376265" cy="128219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7D6AE14-8936-265F-3A13-119878F431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9888" y="2105623"/>
            <a:ext cx="1485302" cy="148530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C26A457-C05F-10D8-325B-B4CBD099ED7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9461" y="3590925"/>
            <a:ext cx="1567849" cy="156218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6A8791C-4749-59B7-AA3E-E7561E3F5F3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487" y="4136496"/>
            <a:ext cx="2792802" cy="1861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364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F5F582D-1903-BE26-8B59-BD4119500622}"/>
              </a:ext>
            </a:extLst>
          </p:cNvPr>
          <p:cNvSpPr txBox="1"/>
          <p:nvPr/>
        </p:nvSpPr>
        <p:spPr>
          <a:xfrm>
            <a:off x="3047288" y="790827"/>
            <a:ext cx="6097424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32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Архітектура</a:t>
            </a:r>
            <a:r>
              <a:rPr lang="en-US" sz="3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32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додатку</a:t>
            </a:r>
            <a:endParaRPr lang="en-US" sz="3200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56A5B76-82FF-DF5D-C741-20DFAF8970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0106" y="1958736"/>
            <a:ext cx="551788" cy="4465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47910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FB3A3D9-81EF-EA50-FB4E-3A8C8F8E2871}"/>
              </a:ext>
            </a:extLst>
          </p:cNvPr>
          <p:cNvSpPr txBox="1"/>
          <p:nvPr/>
        </p:nvSpPr>
        <p:spPr>
          <a:xfrm>
            <a:off x="3047288" y="1050201"/>
            <a:ext cx="60974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uk-UA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Логіка маршрутизації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BD73CF-EBD2-37B8-EBE5-CAE933470667}"/>
              </a:ext>
            </a:extLst>
          </p:cNvPr>
          <p:cNvSpPr txBox="1"/>
          <p:nvPr/>
        </p:nvSpPr>
        <p:spPr>
          <a:xfrm>
            <a:off x="1232374" y="2161975"/>
            <a:ext cx="9727251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uk-U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Єдина точка входу: використання файлу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index.php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 папці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</a:t>
            </a:r>
            <a:r>
              <a:rPr lang="uk-U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обробки всіх вхідних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HTTP-</a:t>
            </a:r>
            <a:r>
              <a:rPr lang="uk-U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запитів.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uk-U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Обробка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URL </a:t>
            </a:r>
            <a:r>
              <a:rPr lang="uk-U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через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Regex: </a:t>
            </a:r>
            <a:r>
              <a:rPr lang="uk-U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маршрутизатор аналізує запит та зіставляє його з відповідним контролером і методом.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uk-U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Динамічна диспетчеризація: автоматичне створення екземплярів класів контролерів наприклад,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DiaryController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основі отриманого маршруту.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uk-U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Візуалізація: замість схеми таймера тут ідеально підійде схема: Запит - .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htaccess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Router </a:t>
            </a:r>
            <a:r>
              <a:rPr lang="uk-U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Controller.</a:t>
            </a:r>
            <a:endParaRPr lang="uk-UA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1401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4309072-709F-00EE-1A23-484D791F0F78}"/>
              </a:ext>
            </a:extLst>
          </p:cNvPr>
          <p:cNvSpPr txBox="1"/>
          <p:nvPr/>
        </p:nvSpPr>
        <p:spPr>
          <a:xfrm>
            <a:off x="3047288" y="896376"/>
            <a:ext cx="60974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Робота з БД та безпека</a:t>
            </a:r>
            <a:endParaRPr lang="uk-UA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41DA48-D21E-7AD8-5B9E-175723A23FBD}"/>
              </a:ext>
            </a:extLst>
          </p:cNvPr>
          <p:cNvSpPr txBox="1"/>
          <p:nvPr/>
        </p:nvSpPr>
        <p:spPr>
          <a:xfrm>
            <a:off x="1152257" y="2404944"/>
            <a:ext cx="9887485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uk-U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Перехід до реляційної СУБД: використання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 </a:t>
            </a:r>
            <a:r>
              <a:rPr lang="uk-U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замість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JSON </a:t>
            </a:r>
            <a:r>
              <a:rPr lang="uk-U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забезпечення цілісності даних та швидкого пошуку через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SQL-</a:t>
            </a:r>
            <a:r>
              <a:rPr lang="uk-U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запити.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uk-U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Безпека через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PDO: </a:t>
            </a:r>
            <a:r>
              <a:rPr lang="uk-U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реалізація підготовлених запитів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Prepared Statements </a:t>
            </a:r>
            <a:r>
              <a:rPr lang="uk-U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захисту від найпоширенішої вебвразливості —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SQL-</a:t>
            </a:r>
            <a:r>
              <a:rPr lang="uk-U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ін’єкцій.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uk-U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Паттерн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Singleton: </a:t>
            </a:r>
            <a:r>
              <a:rPr lang="uk-U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клас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Database.php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гарантує створення лише одного підключення до бази даних протягом сесії, що оптимізує використання ресурсів сервера.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uk-U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Об'єктно-орієнтований підхід: кожна таблиця бази даних представлена відповідною моделлю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User.php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DiaryEntry.php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uk-UA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09952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382ABA6C-6B3E-6780-EDF8-C18A5015D51D}"/>
              </a:ext>
            </a:extLst>
          </p:cNvPr>
          <p:cNvSpPr txBox="1"/>
          <p:nvPr/>
        </p:nvSpPr>
        <p:spPr>
          <a:xfrm>
            <a:off x="4379356" y="826264"/>
            <a:ext cx="3433287" cy="8416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6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Виснов</a:t>
            </a:r>
            <a:r>
              <a:rPr lang="uk-UA" sz="56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к</a:t>
            </a:r>
            <a:r>
              <a:rPr lang="en-US" sz="56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E0CEB9-FE9F-57A7-07FB-AD60B9F3B972}"/>
              </a:ext>
            </a:extLst>
          </p:cNvPr>
          <p:cNvSpPr txBox="1"/>
          <p:nvPr/>
        </p:nvSpPr>
        <p:spPr>
          <a:xfrm>
            <a:off x="1083890" y="2309102"/>
            <a:ext cx="1002421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uk-UA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Мету досягнуто: 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Розроблено масштабований вебзастосунок для ведення персональних нотаток із функцією адміністрування.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uk-UA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Архітектура: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Проєкт успішно побудовано на основі паттерну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MVC, 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що забезпечує чітке розділення бізнес-логіки, даних та інтерфейсу.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uk-UA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Оптимізація: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Замість локальних файлів реалізовано роботу з реляційною СУБД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MySQL, 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що дозволяє надійно зберігати великі обсяги інформації та керувати зв'язками між ними.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uk-UA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Безпека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Back-end: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Впроваджено захист від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SQL-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ін’єкцій через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PDO Prepared Statements 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та безпечне керування користувацькими сесіями.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uk-UA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Практична цінність: 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Створено гнучку платформу, яка може бути розгорнута на будь-якому вебсервері та легко доповнена новими модулями наприклад,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чи системою тегів.</a:t>
            </a:r>
          </a:p>
        </p:txBody>
      </p:sp>
    </p:spTree>
    <p:extLst>
      <p:ext uri="{BB962C8B-B14F-4D97-AF65-F5344CB8AC3E}">
        <p14:creationId xmlns:p14="http://schemas.microsoft.com/office/powerpoint/2010/main" val="1024493589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9118_TF33552983" id="{2F1ADF54-C825-4D3E-9AF5-FE973D05F779}" vid="{B52DDA63-2DF1-4272-9077-D56C9EE851D0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{74459BCD-D956-44B2-B9C5-AAECE18C9F88}TF201209c3-d067-44f9-a26f-c8f216c4431348d7233e_win32-a2d8b9d85305</Template>
  <TotalTime>60</TotalTime>
  <Words>462</Words>
  <Application>Microsoft Office PowerPoint</Application>
  <PresentationFormat>Widescreen</PresentationFormat>
  <Paragraphs>32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Arial</vt:lpstr>
      <vt:lpstr>Calibri</vt:lpstr>
      <vt:lpstr>Corbel</vt:lpstr>
      <vt:lpstr>Franklin Gothic Book</vt:lpstr>
      <vt:lpstr>Franklin Gothic Demi</vt:lpstr>
      <vt:lpstr>Times New Roman</vt:lpstr>
      <vt:lpstr>Times New Roman Bold</vt:lpstr>
      <vt:lpstr>Wingdings 2</vt:lpstr>
      <vt:lpstr>DividendVTI</vt:lpstr>
      <vt:lpstr>Курсова робота на тему: «Онлайн-платформа для ведення щоденника» </vt:lpstr>
      <vt:lpstr>PowerPoint Presentation</vt:lpstr>
      <vt:lpstr>Основний функціонал </vt:lpstr>
      <vt:lpstr>Інструменти розробки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illau doruman</dc:creator>
  <cp:lastModifiedBy>illau doruman</cp:lastModifiedBy>
  <cp:revision>1</cp:revision>
  <dcterms:created xsi:type="dcterms:W3CDTF">2026-03-30T13:57:11Z</dcterms:created>
  <dcterms:modified xsi:type="dcterms:W3CDTF">2026-03-30T14:57:29Z</dcterms:modified>
</cp:coreProperties>
</file>